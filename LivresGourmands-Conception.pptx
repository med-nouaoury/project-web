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9" r:id="rId9"/>
    <p:sldId id="268" r:id="rId10"/>
    <p:sldId id="263" r:id="rId11"/>
    <p:sldId id="264" r:id="rId12"/>
    <p:sldId id="265" r:id="rId13"/>
    <p:sldId id="266" r:id="rId14"/>
    <p:sldId id="267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7517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8352CC-BA7B-F68C-34E2-ADF5B9BA1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C486E6-E23A-1791-6F7F-CF7AFC361A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E7978C-725F-6D8E-9E97-8813A31895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9570B0-AC78-B824-E549-59EE22763F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6192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A289BA-39EB-D889-7EB8-1046BC799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557F32-CD11-9F8E-AE17-1E31A80B54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A78C82-5A1F-2490-E197-0A3E3A07C8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4FDFBB-DF88-11C7-B6F3-7CB7F76DD4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8240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1B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54880" cy="5143500"/>
          </a:xfrm>
          <a:prstGeom prst="rect">
            <a:avLst/>
          </a:prstGeom>
          <a:solidFill>
            <a:srgbClr val="1E1208"/>
          </a:solidFill>
          <a:ln w="12700">
            <a:solidFill>
              <a:srgbClr val="1E1208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3" name="Shape 1"/>
          <p:cNvSpPr/>
          <p:nvPr/>
        </p:nvSpPr>
        <p:spPr>
          <a:xfrm>
            <a:off x="4754880" y="0"/>
            <a:ext cx="64008" cy="5143500"/>
          </a:xfrm>
          <a:prstGeom prst="rect">
            <a:avLst/>
          </a:prstGeom>
          <a:solidFill>
            <a:srgbClr val="C4593A"/>
          </a:solidFill>
          <a:ln w="12700">
            <a:solidFill>
              <a:srgbClr val="C4593A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4" name="Shape 2"/>
          <p:cNvSpPr/>
          <p:nvPr/>
        </p:nvSpPr>
        <p:spPr>
          <a:xfrm>
            <a:off x="4709162" y="0"/>
            <a:ext cx="4325112" cy="5143500"/>
          </a:xfrm>
          <a:prstGeom prst="rect">
            <a:avLst/>
          </a:prstGeom>
          <a:solidFill>
            <a:srgbClr val="3D2412"/>
          </a:solidFill>
          <a:ln w="12700">
            <a:solidFill>
              <a:srgbClr val="3D2412"/>
            </a:solidFill>
            <a:prstDash val="solid"/>
          </a:ln>
        </p:spPr>
        <p:txBody>
          <a:bodyPr/>
          <a:lstStyle/>
          <a:p>
            <a:endParaRPr lang="fr-CA" dirty="0"/>
          </a:p>
        </p:txBody>
      </p:sp>
      <p:sp>
        <p:nvSpPr>
          <p:cNvPr id="5" name="Shape 3"/>
          <p:cNvSpPr/>
          <p:nvPr/>
        </p:nvSpPr>
        <p:spPr>
          <a:xfrm>
            <a:off x="5029200" y="274320"/>
            <a:ext cx="1005840" cy="1005840"/>
          </a:xfrm>
          <a:prstGeom prst="ellipse">
            <a:avLst/>
          </a:prstGeom>
          <a:solidFill>
            <a:srgbClr val="C4593A">
              <a:alpha val="25000"/>
            </a:srgbClr>
          </a:solidFill>
          <a:ln w="12700">
            <a:solidFill>
              <a:srgbClr val="E8A83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6" name="Shape 4"/>
          <p:cNvSpPr/>
          <p:nvPr/>
        </p:nvSpPr>
        <p:spPr>
          <a:xfrm>
            <a:off x="6309360" y="274320"/>
            <a:ext cx="1005840" cy="1005840"/>
          </a:xfrm>
          <a:prstGeom prst="ellipse">
            <a:avLst/>
          </a:prstGeom>
          <a:solidFill>
            <a:srgbClr val="C4593A">
              <a:alpha val="22000"/>
            </a:srgbClr>
          </a:solidFill>
          <a:ln w="12700">
            <a:solidFill>
              <a:srgbClr val="E8A83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7" name="Shape 5"/>
          <p:cNvSpPr/>
          <p:nvPr/>
        </p:nvSpPr>
        <p:spPr>
          <a:xfrm>
            <a:off x="7589520" y="274320"/>
            <a:ext cx="1005840" cy="1005840"/>
          </a:xfrm>
          <a:prstGeom prst="ellipse">
            <a:avLst/>
          </a:prstGeom>
          <a:solidFill>
            <a:srgbClr val="C4593A">
              <a:alpha val="19000"/>
            </a:srgbClr>
          </a:solidFill>
          <a:ln w="12700">
            <a:solidFill>
              <a:srgbClr val="E8A83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8" name="Shape 6"/>
          <p:cNvSpPr/>
          <p:nvPr/>
        </p:nvSpPr>
        <p:spPr>
          <a:xfrm>
            <a:off x="5029200" y="2560320"/>
            <a:ext cx="1005840" cy="1005840"/>
          </a:xfrm>
          <a:prstGeom prst="ellipse">
            <a:avLst/>
          </a:prstGeom>
          <a:solidFill>
            <a:srgbClr val="C4593A">
              <a:alpha val="16000"/>
            </a:srgbClr>
          </a:solidFill>
          <a:ln w="12700">
            <a:solidFill>
              <a:srgbClr val="E8A83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9" name="Shape 7"/>
          <p:cNvSpPr/>
          <p:nvPr/>
        </p:nvSpPr>
        <p:spPr>
          <a:xfrm>
            <a:off x="6309360" y="2560320"/>
            <a:ext cx="1005840" cy="1005840"/>
          </a:xfrm>
          <a:prstGeom prst="ellipse">
            <a:avLst/>
          </a:prstGeom>
          <a:solidFill>
            <a:srgbClr val="C4593A">
              <a:alpha val="13000"/>
            </a:srgbClr>
          </a:solidFill>
          <a:ln w="12700">
            <a:solidFill>
              <a:srgbClr val="E8A83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0" name="Shape 8"/>
          <p:cNvSpPr/>
          <p:nvPr/>
        </p:nvSpPr>
        <p:spPr>
          <a:xfrm>
            <a:off x="7589520" y="2560320"/>
            <a:ext cx="1005840" cy="1005840"/>
          </a:xfrm>
          <a:prstGeom prst="ellipse">
            <a:avLst/>
          </a:prstGeom>
          <a:solidFill>
            <a:srgbClr val="C4593A">
              <a:alpha val="10000"/>
            </a:srgbClr>
          </a:solidFill>
          <a:ln w="12700">
            <a:solidFill>
              <a:srgbClr val="E8A83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1" name="Shape 9"/>
          <p:cNvSpPr/>
          <p:nvPr/>
        </p:nvSpPr>
        <p:spPr>
          <a:xfrm>
            <a:off x="457200" y="411480"/>
            <a:ext cx="384048" cy="384048"/>
          </a:xfrm>
          <a:prstGeom prst="rect">
            <a:avLst/>
          </a:prstGeom>
          <a:solidFill>
            <a:srgbClr val="C4593A"/>
          </a:solidFill>
          <a:ln w="12700">
            <a:solidFill>
              <a:srgbClr val="C4593A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2" name="Text 10"/>
          <p:cNvSpPr/>
          <p:nvPr/>
        </p:nvSpPr>
        <p:spPr>
          <a:xfrm>
            <a:off x="457200" y="4114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📚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60120" y="41148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LivresGourmands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7200" y="10972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DOSSIER DE CONCEPTION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81669" y="1417320"/>
            <a:ext cx="4390331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DOSSIER DE
</a:t>
            </a:r>
            <a:endParaRPr lang="en-US" sz="2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CONCEPTION
</a:t>
            </a:r>
            <a:endParaRPr lang="en-US" sz="2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 SITE WEB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246888" y="3611729"/>
            <a:ext cx="3474720" cy="502920"/>
          </a:xfrm>
          <a:prstGeom prst="rect">
            <a:avLst/>
          </a:prstGeom>
          <a:solidFill>
            <a:srgbClr val="C4593A"/>
          </a:solidFill>
          <a:ln w="12700">
            <a:solidFill>
              <a:srgbClr val="C4593A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7" name="Text 15"/>
          <p:cNvSpPr/>
          <p:nvPr/>
        </p:nvSpPr>
        <p:spPr>
          <a:xfrm>
            <a:off x="457200" y="361188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LivresGourmands.net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7200" y="42062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Web Full Stack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46177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Étudiant — Institut Grasset, Montréal
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DEC — Développement Web
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 420-WA6-AG  ·  2025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298842" y="1701935"/>
            <a:ext cx="329729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LivresGourmands.net</a:t>
            </a:r>
            <a:endParaRPr lang="en-US" sz="2000" dirty="0"/>
          </a:p>
          <a:p>
            <a:pPr marL="0" indent="0" algn="ctr">
              <a:buNone/>
            </a:pP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593A"/>
          </a:solidFill>
          <a:ln w="12700">
            <a:solidFill>
              <a:srgbClr val="C4593A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1B0E"/>
          </a:solidFill>
          <a:ln w="12700">
            <a:solidFill>
              <a:srgbClr val="2D1B0E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SOMMAIRE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420624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0D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502920" cy="1051560"/>
          </a:xfrm>
          <a:prstGeom prst="rect">
            <a:avLst/>
          </a:prstGeom>
          <a:solidFill>
            <a:srgbClr val="C4593A"/>
          </a:solidFill>
          <a:ln w="12700">
            <a:solidFill>
              <a:srgbClr val="C4593A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7" name="Text 5"/>
          <p:cNvSpPr/>
          <p:nvPr/>
        </p:nvSpPr>
        <p:spPr>
          <a:xfrm>
            <a:off x="365760" y="1143000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1252728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1B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1645920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A7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Méthodologie et objectifs du projet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2377440"/>
            <a:ext cx="420624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0D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11" name="Shape 9"/>
          <p:cNvSpPr/>
          <p:nvPr/>
        </p:nvSpPr>
        <p:spPr>
          <a:xfrm>
            <a:off x="365760" y="2377440"/>
            <a:ext cx="502920" cy="1051560"/>
          </a:xfrm>
          <a:prstGeom prst="rect">
            <a:avLst/>
          </a:prstGeom>
          <a:solidFill>
            <a:srgbClr val="C4593A"/>
          </a:solidFill>
          <a:ln w="12700">
            <a:solidFill>
              <a:srgbClr val="C4593A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2" name="Text 10"/>
          <p:cNvSpPr/>
          <p:nvPr/>
        </p:nvSpPr>
        <p:spPr>
          <a:xfrm>
            <a:off x="365760" y="2377440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2487168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1B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Cahier des charges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60120" y="2880360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A7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Présentation, objectifs, budget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3611880"/>
            <a:ext cx="420624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0D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16" name="Shape 14"/>
          <p:cNvSpPr/>
          <p:nvPr/>
        </p:nvSpPr>
        <p:spPr>
          <a:xfrm>
            <a:off x="365760" y="3611880"/>
            <a:ext cx="502920" cy="1051560"/>
          </a:xfrm>
          <a:prstGeom prst="rect">
            <a:avLst/>
          </a:prstGeom>
          <a:solidFill>
            <a:srgbClr val="C4593A"/>
          </a:solidFill>
          <a:ln w="12700">
            <a:solidFill>
              <a:srgbClr val="C4593A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7" name="Text 15"/>
          <p:cNvSpPr/>
          <p:nvPr/>
        </p:nvSpPr>
        <p:spPr>
          <a:xfrm>
            <a:off x="365760" y="3611880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III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60120" y="3721608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1B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Arborescence du site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0120" y="4114800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A7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et navigation des pages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846320" y="1143000"/>
            <a:ext cx="420624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0D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21" name="Shape 19"/>
          <p:cNvSpPr/>
          <p:nvPr/>
        </p:nvSpPr>
        <p:spPr>
          <a:xfrm>
            <a:off x="4846320" y="1143000"/>
            <a:ext cx="502920" cy="1051560"/>
          </a:xfrm>
          <a:prstGeom prst="rect">
            <a:avLst/>
          </a:prstGeom>
          <a:solidFill>
            <a:srgbClr val="C4593A"/>
          </a:solidFill>
          <a:ln w="12700">
            <a:solidFill>
              <a:srgbClr val="C4593A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22" name="Text 20"/>
          <p:cNvSpPr/>
          <p:nvPr/>
        </p:nvSpPr>
        <p:spPr>
          <a:xfrm>
            <a:off x="4846320" y="1143000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IV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40680" y="1252728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1B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Wireframe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40680" y="1645920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A7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Maquettes ordinateur, tablette, mobile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846320" y="2377440"/>
            <a:ext cx="420624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0D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26" name="Shape 24"/>
          <p:cNvSpPr/>
          <p:nvPr/>
        </p:nvSpPr>
        <p:spPr>
          <a:xfrm>
            <a:off x="4846320" y="2377440"/>
            <a:ext cx="502920" cy="1051560"/>
          </a:xfrm>
          <a:prstGeom prst="rect">
            <a:avLst/>
          </a:prstGeom>
          <a:solidFill>
            <a:srgbClr val="C4593A"/>
          </a:solidFill>
          <a:ln w="12700">
            <a:solidFill>
              <a:srgbClr val="C4593A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27" name="Text 25"/>
          <p:cNvSpPr/>
          <p:nvPr/>
        </p:nvSpPr>
        <p:spPr>
          <a:xfrm>
            <a:off x="4846320" y="2377440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440680" y="2487168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1B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Planche de tendance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40680" y="2880360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A7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 visuel et inspirations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846320" y="3611880"/>
            <a:ext cx="420624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0D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31" name="Shape 29"/>
          <p:cNvSpPr/>
          <p:nvPr/>
        </p:nvSpPr>
        <p:spPr>
          <a:xfrm>
            <a:off x="4846320" y="3611880"/>
            <a:ext cx="502920" cy="1051560"/>
          </a:xfrm>
          <a:prstGeom prst="rect">
            <a:avLst/>
          </a:prstGeom>
          <a:solidFill>
            <a:srgbClr val="C4593A"/>
          </a:solidFill>
          <a:ln w="12700">
            <a:solidFill>
              <a:srgbClr val="C4593A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32" name="Text 30"/>
          <p:cNvSpPr/>
          <p:nvPr/>
        </p:nvSpPr>
        <p:spPr>
          <a:xfrm>
            <a:off x="4846320" y="3611880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440680" y="3721608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1B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Charte graphique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440680" y="4114800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A7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Couleurs, typographies, composants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D1B0E"/>
          </a:solidFill>
          <a:ln w="12700">
            <a:solidFill>
              <a:srgbClr val="2D1B0E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 /  INTRODUCTION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5" name="Text 3"/>
          <p:cNvSpPr/>
          <p:nvPr/>
        </p:nvSpPr>
        <p:spPr>
          <a:xfrm>
            <a:off x="365760" y="11887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la conception du site web LivresGourmands.net, j'ai suivi la méthodologie suivante :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2743200" cy="1417320"/>
          </a:xfrm>
          <a:prstGeom prst="rect">
            <a:avLst/>
          </a:prstGeom>
          <a:solidFill>
            <a:srgbClr val="FEF9F5"/>
          </a:solidFill>
          <a:ln w="6350">
            <a:solidFill>
              <a:srgbClr val="E8E0D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7" name="Shape 5"/>
          <p:cNvSpPr/>
          <p:nvPr/>
        </p:nvSpPr>
        <p:spPr>
          <a:xfrm>
            <a:off x="438912" y="1783080"/>
            <a:ext cx="347472" cy="347472"/>
          </a:xfrm>
          <a:prstGeom prst="ellipse">
            <a:avLst/>
          </a:prstGeom>
          <a:solidFill>
            <a:srgbClr val="C4593A"/>
          </a:solidFill>
          <a:ln w="12700">
            <a:solidFill>
              <a:srgbClr val="C4593A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8" name="Text 6"/>
          <p:cNvSpPr/>
          <p:nvPr/>
        </p:nvSpPr>
        <p:spPr>
          <a:xfrm>
            <a:off x="438912" y="1783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59536" y="178308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1B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Analyse des besoins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38912" y="219456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A7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 des fonctionnalités requises : catalogue de livres culinaires, panier, commandes, dashboard administrateur et gestion des utilisateurs.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291840" y="1691640"/>
            <a:ext cx="2743200" cy="1417320"/>
          </a:xfrm>
          <a:prstGeom prst="rect">
            <a:avLst/>
          </a:prstGeom>
          <a:solidFill>
            <a:srgbClr val="FAF7F2"/>
          </a:solidFill>
          <a:ln w="6350">
            <a:solidFill>
              <a:srgbClr val="E8E0D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12" name="Shape 10"/>
          <p:cNvSpPr/>
          <p:nvPr/>
        </p:nvSpPr>
        <p:spPr>
          <a:xfrm>
            <a:off x="3364992" y="1783080"/>
            <a:ext cx="347472" cy="347472"/>
          </a:xfrm>
          <a:prstGeom prst="ellipse">
            <a:avLst/>
          </a:prstGeom>
          <a:solidFill>
            <a:srgbClr val="C4593A"/>
          </a:solidFill>
          <a:ln w="12700">
            <a:solidFill>
              <a:srgbClr val="C4593A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3" name="Text 11"/>
          <p:cNvSpPr/>
          <p:nvPr/>
        </p:nvSpPr>
        <p:spPr>
          <a:xfrm>
            <a:off x="3364992" y="1783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785616" y="178308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1B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Planification du projet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64992" y="219456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A7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Élaboration de l'arborescence, des wireframes et de la charte graphique. Définition des endpoints API REST et de la structure de base de données MySQL.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217920" y="1691640"/>
            <a:ext cx="2743200" cy="1417320"/>
          </a:xfrm>
          <a:prstGeom prst="rect">
            <a:avLst/>
          </a:prstGeom>
          <a:solidFill>
            <a:srgbClr val="FEF9F5"/>
          </a:solidFill>
          <a:ln w="6350">
            <a:solidFill>
              <a:srgbClr val="E8E0D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17" name="Shape 15"/>
          <p:cNvSpPr/>
          <p:nvPr/>
        </p:nvSpPr>
        <p:spPr>
          <a:xfrm>
            <a:off x="6291072" y="1783080"/>
            <a:ext cx="347472" cy="347472"/>
          </a:xfrm>
          <a:prstGeom prst="ellipse">
            <a:avLst/>
          </a:prstGeom>
          <a:solidFill>
            <a:srgbClr val="C4593A"/>
          </a:solidFill>
          <a:ln w="12700">
            <a:solidFill>
              <a:srgbClr val="C4593A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8" name="Text 16"/>
          <p:cNvSpPr/>
          <p:nvPr/>
        </p:nvSpPr>
        <p:spPr>
          <a:xfrm>
            <a:off x="6291072" y="1783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711696" y="178308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1B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Développement backend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291072" y="219456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A7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Node.js/Express avec authentification JWT, gestion des rôles (admin, éditeur, client), transactions MySQL pour les commandes.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65760" y="3246120"/>
            <a:ext cx="2743200" cy="1417320"/>
          </a:xfrm>
          <a:prstGeom prst="rect">
            <a:avLst/>
          </a:prstGeom>
          <a:solidFill>
            <a:srgbClr val="FAF7F2"/>
          </a:solidFill>
          <a:ln w="6350">
            <a:solidFill>
              <a:srgbClr val="E8E0D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22" name="Shape 20"/>
          <p:cNvSpPr/>
          <p:nvPr/>
        </p:nvSpPr>
        <p:spPr>
          <a:xfrm>
            <a:off x="438912" y="3337560"/>
            <a:ext cx="347472" cy="347472"/>
          </a:xfrm>
          <a:prstGeom prst="ellipse">
            <a:avLst/>
          </a:prstGeom>
          <a:solidFill>
            <a:srgbClr val="C4593A"/>
          </a:solidFill>
          <a:ln w="12700">
            <a:solidFill>
              <a:srgbClr val="C4593A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23" name="Text 21"/>
          <p:cNvSpPr/>
          <p:nvPr/>
        </p:nvSpPr>
        <p:spPr>
          <a:xfrm>
            <a:off x="438912" y="33375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59536" y="333756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1B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Développement frontend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38912" y="374904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A7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React avec Context API, Axios, Bootstrap 5. Pages : accueil, catalogue, produit, panier, login, register, dashboard admin.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291840" y="3246120"/>
            <a:ext cx="2743200" cy="1417320"/>
          </a:xfrm>
          <a:prstGeom prst="rect">
            <a:avLst/>
          </a:prstGeom>
          <a:solidFill>
            <a:srgbClr val="FEF9F5"/>
          </a:solidFill>
          <a:ln w="6350">
            <a:solidFill>
              <a:srgbClr val="E8E0D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27" name="Shape 25"/>
          <p:cNvSpPr/>
          <p:nvPr/>
        </p:nvSpPr>
        <p:spPr>
          <a:xfrm>
            <a:off x="3364992" y="3337560"/>
            <a:ext cx="347472" cy="347472"/>
          </a:xfrm>
          <a:prstGeom prst="ellipse">
            <a:avLst/>
          </a:prstGeom>
          <a:solidFill>
            <a:srgbClr val="C4593A"/>
          </a:solidFill>
          <a:ln w="12700">
            <a:solidFill>
              <a:srgbClr val="C4593A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28" name="Text 26"/>
          <p:cNvSpPr/>
          <p:nvPr/>
        </p:nvSpPr>
        <p:spPr>
          <a:xfrm>
            <a:off x="3364992" y="33375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785616" y="333756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1B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Tests et validation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364992" y="374904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A7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Suite de 58 tests automatisés (test.js) couvrant tous les endpoints. Vérification de l'accessibilité WCAG AA et du responsive design.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217920" y="3246120"/>
            <a:ext cx="2743200" cy="1417320"/>
          </a:xfrm>
          <a:prstGeom prst="rect">
            <a:avLst/>
          </a:prstGeom>
          <a:solidFill>
            <a:srgbClr val="FAF7F2"/>
          </a:solidFill>
          <a:ln w="6350">
            <a:solidFill>
              <a:srgbClr val="E8E0D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32" name="Shape 30"/>
          <p:cNvSpPr/>
          <p:nvPr/>
        </p:nvSpPr>
        <p:spPr>
          <a:xfrm>
            <a:off x="6291072" y="3337560"/>
            <a:ext cx="347472" cy="347472"/>
          </a:xfrm>
          <a:prstGeom prst="ellipse">
            <a:avLst/>
          </a:prstGeom>
          <a:solidFill>
            <a:srgbClr val="C4593A"/>
          </a:solidFill>
          <a:ln w="12700">
            <a:solidFill>
              <a:srgbClr val="C4593A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33" name="Text 31"/>
          <p:cNvSpPr/>
          <p:nvPr/>
        </p:nvSpPr>
        <p:spPr>
          <a:xfrm>
            <a:off x="6291072" y="33375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711696" y="333756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1B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Déploiement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291072" y="374904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A7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de l'environnement de production, variables d'environnement, fichier .env, connexion base de données et mise en ligne.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D1B0E"/>
          </a:solidFill>
          <a:ln w="12700">
            <a:solidFill>
              <a:srgbClr val="2D1B0E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  /  CAHIER DES CHARGES  —  Présentation du projet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11430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45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2.1  PRÉSENTATION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C45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 PROJET WEB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920240"/>
            <a:ext cx="256032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E8E0D5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6" name="Text 4"/>
          <p:cNvSpPr/>
          <p:nvPr/>
        </p:nvSpPr>
        <p:spPr>
          <a:xfrm>
            <a:off x="365760" y="192024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8A7F78"/>
                </a:solidFill>
              </a:rPr>
              <a:t>Nom du projet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417320" y="19202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1C1C"/>
                </a:solidFill>
              </a:rPr>
              <a:t>LivresGourmands.net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74320" y="2450592"/>
            <a:ext cx="2560320" cy="457200"/>
          </a:xfrm>
          <a:prstGeom prst="rect">
            <a:avLst/>
          </a:prstGeom>
          <a:solidFill>
            <a:srgbClr val="F5EFE8"/>
          </a:solidFill>
          <a:ln w="3810">
            <a:solidFill>
              <a:srgbClr val="E8E0D5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9" name="Text 7"/>
          <p:cNvSpPr/>
          <p:nvPr/>
        </p:nvSpPr>
        <p:spPr>
          <a:xfrm>
            <a:off x="365760" y="2450592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8A7F78"/>
                </a:solidFill>
              </a:rPr>
              <a:t>Type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417320" y="245059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1C1C"/>
                </a:solidFill>
              </a:rPr>
              <a:t>Site e-commerce — </a:t>
            </a:r>
            <a:r>
              <a:rPr lang="en-US" sz="850" dirty="0" err="1">
                <a:solidFill>
                  <a:srgbClr val="1C1C1C"/>
                </a:solidFill>
              </a:rPr>
              <a:t>LivreGoumands</a:t>
            </a:r>
            <a:r>
              <a:rPr lang="en-US" sz="850" dirty="0">
                <a:solidFill>
                  <a:srgbClr val="1C1C1C"/>
                </a:solidFill>
              </a:rPr>
              <a:t> pour la cuisine 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74320" y="2980944"/>
            <a:ext cx="256032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E8E0D5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2" name="Text 10"/>
          <p:cNvSpPr/>
          <p:nvPr/>
        </p:nvSpPr>
        <p:spPr>
          <a:xfrm>
            <a:off x="365760" y="2980944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8A7F78"/>
                </a:solidFill>
              </a:rPr>
              <a:t>Technologie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417320" y="2980944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1C1C"/>
                </a:solidFill>
              </a:rPr>
              <a:t>React 18 + Node.js/Express + MySQL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74320" y="3511296"/>
            <a:ext cx="2560320" cy="457200"/>
          </a:xfrm>
          <a:prstGeom prst="rect">
            <a:avLst/>
          </a:prstGeom>
          <a:solidFill>
            <a:srgbClr val="F5EFE8"/>
          </a:solidFill>
          <a:ln w="3810">
            <a:solidFill>
              <a:srgbClr val="E8E0D5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5" name="Text 13"/>
          <p:cNvSpPr/>
          <p:nvPr/>
        </p:nvSpPr>
        <p:spPr>
          <a:xfrm>
            <a:off x="365760" y="3511296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8A7F78"/>
                </a:solidFill>
              </a:rPr>
              <a:t>Auteur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417320" y="3511296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1C1C"/>
                </a:solidFill>
              </a:rPr>
              <a:t>Étudiant — Institut Grasset, Montréal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74320" y="4041648"/>
            <a:ext cx="256032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E8E0D5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8" name="Text 16"/>
          <p:cNvSpPr/>
          <p:nvPr/>
        </p:nvSpPr>
        <p:spPr>
          <a:xfrm>
            <a:off x="365760" y="4041648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8A7F78"/>
                </a:solidFill>
              </a:rPr>
              <a:t>Cours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417320" y="404164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1C1C"/>
                </a:solidFill>
              </a:rPr>
              <a:t>420-WA6-AG — Programmation Web avancée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108960" y="1143000"/>
            <a:ext cx="566928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21" name="Text 19"/>
          <p:cNvSpPr/>
          <p:nvPr/>
        </p:nvSpPr>
        <p:spPr>
          <a:xfrm>
            <a:off x="3337560" y="128016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1B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Objectifs du site web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337560" y="1664208"/>
            <a:ext cx="1097280" cy="36576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23" name="Text 21"/>
          <p:cNvSpPr/>
          <p:nvPr/>
        </p:nvSpPr>
        <p:spPr>
          <a:xfrm>
            <a:off x="3337560" y="1847088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📚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749040" y="1847088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1B0E"/>
                </a:solidFill>
              </a:rPr>
              <a:t>Vente en ligne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749040" y="207568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7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Permettre la vente de livres culinaires avec catalogue, fiches produits, panier et commandes.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337560" y="246888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🔐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749040" y="2468880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1B0E"/>
                </a:solidFill>
              </a:rPr>
              <a:t>Authentification sécurisée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749040" y="26974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7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de connexion/inscription avec JWT, rôles (admin, éditeur, client) et routes protégées.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337560" y="3090672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🛒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3749040" y="3090672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1B0E"/>
                </a:solidFill>
              </a:rPr>
              <a:t>Panier persistant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749040" y="331927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7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Panier dynamique avec Context API et localStorage, calcul TPS/TVQ québécois.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337560" y="3712464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749040" y="3712464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1B0E"/>
                </a:solidFill>
              </a:rPr>
              <a:t>Dashboard administrateur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749040" y="3941064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7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 avec statistiques, gestion des ouvrages (CRUD), commandes et utilisateurs.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337560" y="4334256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📱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3749040" y="4334256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1B0E"/>
                </a:solidFill>
              </a:rPr>
              <a:t>Responsive Design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749040" y="4562856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7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optimisée pour mobile, tablette et desktop avec Bootstrap 5.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D1B0E"/>
          </a:solidFill>
          <a:ln w="12700">
            <a:solidFill>
              <a:srgbClr val="2D1B0E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  /  CAHIER DES CHARGES  —  Spécifications &amp; Budget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114300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45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2.2  SPÉCIFICATIONS TECHNIQUES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691640"/>
            <a:ext cx="4114800" cy="475488"/>
          </a:xfrm>
          <a:prstGeom prst="rect">
            <a:avLst/>
          </a:prstGeom>
          <a:solidFill>
            <a:srgbClr val="FEF9F5"/>
          </a:solidFill>
          <a:ln w="3810">
            <a:solidFill>
              <a:srgbClr val="E8E0D5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6" name="Shape 4"/>
          <p:cNvSpPr/>
          <p:nvPr/>
        </p:nvSpPr>
        <p:spPr>
          <a:xfrm>
            <a:off x="274320" y="1691640"/>
            <a:ext cx="54864" cy="475488"/>
          </a:xfrm>
          <a:prstGeom prst="rect">
            <a:avLst/>
          </a:prstGeom>
          <a:solidFill>
            <a:srgbClr val="C4593A"/>
          </a:solidFill>
          <a:ln w="12700">
            <a:solidFill>
              <a:srgbClr val="C4593A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7" name="Text 5"/>
          <p:cNvSpPr/>
          <p:nvPr/>
        </p:nvSpPr>
        <p:spPr>
          <a:xfrm>
            <a:off x="420624" y="170992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D1B0E"/>
                </a:solidFill>
              </a:rPr>
              <a:t>Frontend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20624" y="1929384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7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· Vite · Bootstrap 5 · Axios · Context API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74320" y="2240280"/>
            <a:ext cx="4114800" cy="475488"/>
          </a:xfrm>
          <a:prstGeom prst="rect">
            <a:avLst/>
          </a:prstGeom>
          <a:solidFill>
            <a:srgbClr val="FAF7F2"/>
          </a:solidFill>
          <a:ln w="3810">
            <a:solidFill>
              <a:srgbClr val="E8E0D5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0" name="Shape 8"/>
          <p:cNvSpPr/>
          <p:nvPr/>
        </p:nvSpPr>
        <p:spPr>
          <a:xfrm>
            <a:off x="274320" y="2240280"/>
            <a:ext cx="54864" cy="475488"/>
          </a:xfrm>
          <a:prstGeom prst="rect">
            <a:avLst/>
          </a:prstGeom>
          <a:solidFill>
            <a:srgbClr val="C4593A"/>
          </a:solidFill>
          <a:ln w="12700">
            <a:solidFill>
              <a:srgbClr val="C4593A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1" name="Text 9"/>
          <p:cNvSpPr/>
          <p:nvPr/>
        </p:nvSpPr>
        <p:spPr>
          <a:xfrm>
            <a:off x="420624" y="225856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D1B0E"/>
                </a:solidFill>
              </a:rPr>
              <a:t>Backend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20624" y="2478024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7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· Express · JWT · bcrypt · express-validator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74320" y="2788920"/>
            <a:ext cx="4114800" cy="475488"/>
          </a:xfrm>
          <a:prstGeom prst="rect">
            <a:avLst/>
          </a:prstGeom>
          <a:solidFill>
            <a:srgbClr val="FEF9F5"/>
          </a:solidFill>
          <a:ln w="3810">
            <a:solidFill>
              <a:srgbClr val="E8E0D5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4" name="Shape 12"/>
          <p:cNvSpPr/>
          <p:nvPr/>
        </p:nvSpPr>
        <p:spPr>
          <a:xfrm>
            <a:off x="274320" y="2788920"/>
            <a:ext cx="54864" cy="475488"/>
          </a:xfrm>
          <a:prstGeom prst="rect">
            <a:avLst/>
          </a:prstGeom>
          <a:solidFill>
            <a:srgbClr val="C4593A"/>
          </a:solidFill>
          <a:ln w="12700">
            <a:solidFill>
              <a:srgbClr val="C4593A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5" name="Text 13"/>
          <p:cNvSpPr/>
          <p:nvPr/>
        </p:nvSpPr>
        <p:spPr>
          <a:xfrm>
            <a:off x="420624" y="280720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D1B0E"/>
                </a:solidFill>
              </a:rPr>
              <a:t>Base de données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20624" y="3026664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7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/ MariaDB · 12 tables · Transactions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74320" y="3337560"/>
            <a:ext cx="4114800" cy="475488"/>
          </a:xfrm>
          <a:prstGeom prst="rect">
            <a:avLst/>
          </a:prstGeom>
          <a:solidFill>
            <a:srgbClr val="FAF7F2"/>
          </a:solidFill>
          <a:ln w="3810">
            <a:solidFill>
              <a:srgbClr val="E8E0D5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8" name="Shape 16"/>
          <p:cNvSpPr/>
          <p:nvPr/>
        </p:nvSpPr>
        <p:spPr>
          <a:xfrm>
            <a:off x="274320" y="3337560"/>
            <a:ext cx="54864" cy="475488"/>
          </a:xfrm>
          <a:prstGeom prst="rect">
            <a:avLst/>
          </a:prstGeom>
          <a:solidFill>
            <a:srgbClr val="C4593A"/>
          </a:solidFill>
          <a:ln w="12700">
            <a:solidFill>
              <a:srgbClr val="C4593A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9" name="Text 17"/>
          <p:cNvSpPr/>
          <p:nvPr/>
        </p:nvSpPr>
        <p:spPr>
          <a:xfrm>
            <a:off x="420624" y="335584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D1B0E"/>
                </a:solidFill>
              </a:rPr>
              <a:t>Routing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20624" y="3575304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7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 v6 · Routes protégées · Admin guard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74320" y="3886200"/>
            <a:ext cx="4114800" cy="475488"/>
          </a:xfrm>
          <a:prstGeom prst="rect">
            <a:avLst/>
          </a:prstGeom>
          <a:solidFill>
            <a:srgbClr val="FEF9F5"/>
          </a:solidFill>
          <a:ln w="3810">
            <a:solidFill>
              <a:srgbClr val="E8E0D5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22" name="Shape 20"/>
          <p:cNvSpPr/>
          <p:nvPr/>
        </p:nvSpPr>
        <p:spPr>
          <a:xfrm>
            <a:off x="274320" y="3886200"/>
            <a:ext cx="54864" cy="475488"/>
          </a:xfrm>
          <a:prstGeom prst="rect">
            <a:avLst/>
          </a:prstGeom>
          <a:solidFill>
            <a:srgbClr val="C4593A"/>
          </a:solidFill>
          <a:ln w="12700">
            <a:solidFill>
              <a:srgbClr val="C4593A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23" name="Text 21"/>
          <p:cNvSpPr/>
          <p:nvPr/>
        </p:nvSpPr>
        <p:spPr>
          <a:xfrm>
            <a:off x="420624" y="390448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D1B0E"/>
                </a:solidFill>
              </a:rPr>
              <a:t>Auth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20624" y="4123944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7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Token · Rôles : client, éditeur, gestionnaire, admin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274320" y="4434840"/>
            <a:ext cx="4114800" cy="475488"/>
          </a:xfrm>
          <a:prstGeom prst="rect">
            <a:avLst/>
          </a:prstGeom>
          <a:solidFill>
            <a:srgbClr val="FAF7F2"/>
          </a:solidFill>
          <a:ln w="3810">
            <a:solidFill>
              <a:srgbClr val="E8E0D5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26" name="Shape 24"/>
          <p:cNvSpPr/>
          <p:nvPr/>
        </p:nvSpPr>
        <p:spPr>
          <a:xfrm>
            <a:off x="274320" y="4434840"/>
            <a:ext cx="54864" cy="475488"/>
          </a:xfrm>
          <a:prstGeom prst="rect">
            <a:avLst/>
          </a:prstGeom>
          <a:solidFill>
            <a:srgbClr val="C4593A"/>
          </a:solidFill>
          <a:ln w="12700">
            <a:solidFill>
              <a:srgbClr val="C4593A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27" name="Text 25"/>
          <p:cNvSpPr/>
          <p:nvPr/>
        </p:nvSpPr>
        <p:spPr>
          <a:xfrm>
            <a:off x="420624" y="445312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D1B0E"/>
                </a:solidFill>
              </a:rPr>
              <a:t>Tests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20624" y="4672584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7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Suite automatisée (test.js) · 58 tests · Fetch API native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4663440" y="114300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45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2.3  BUDGET ESTIMÉ</a:t>
            </a:r>
            <a:endParaRPr lang="en-US" sz="12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691640"/>
          <a:ext cx="4206240" cy="2304288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1B0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Jours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1B0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Taux / j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1B0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Coût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1B0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1C1C"/>
                          </a:solidFill>
                        </a:rPr>
                        <a:t>Développement backend API REST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1C1C"/>
                          </a:solidFill>
                        </a:rPr>
                        <a:t>6 j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1C1C"/>
                          </a:solidFill>
                        </a:rPr>
                        <a:t>400 $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C4593A"/>
                          </a:solidFill>
                        </a:rPr>
                        <a:t>2 400 $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1C1C"/>
                          </a:solidFill>
                        </a:rPr>
                        <a:t>Développement frontend React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1C1C"/>
                          </a:solidFill>
                        </a:rPr>
                        <a:t>7 j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1C1C"/>
                          </a:solidFill>
                        </a:rPr>
                        <a:t>400 $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C4593A"/>
                          </a:solidFill>
                        </a:rPr>
                        <a:t>2 800 $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1C1C"/>
                          </a:solidFill>
                        </a:rPr>
                        <a:t>Dashboard admin + CRUD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1C1C"/>
                          </a:solidFill>
                        </a:rPr>
                        <a:t>3 j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1C1C"/>
                          </a:solidFill>
                        </a:rPr>
                        <a:t>400 $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C4593A"/>
                          </a:solidFill>
                        </a:rPr>
                        <a:t>1 200 $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1C1C"/>
                          </a:solidFill>
                        </a:rPr>
                        <a:t>Tests + documentation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1C1C"/>
                          </a:solidFill>
                        </a:rPr>
                        <a:t>2 j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1C1C"/>
                          </a:solidFill>
                        </a:rPr>
                        <a:t>400 $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C4593A"/>
                          </a:solidFill>
                        </a:rPr>
                        <a:t>800 $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1C1C"/>
                          </a:solidFill>
                        </a:rPr>
                        <a:t>Déploiement + configuration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1C1C"/>
                          </a:solidFill>
                        </a:rPr>
                        <a:t>1 j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1C1C"/>
                          </a:solidFill>
                        </a:rPr>
                        <a:t>400 $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C4593A"/>
                          </a:solidFill>
                        </a:rPr>
                        <a:t>400 $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1" name="Shape 28"/>
          <p:cNvSpPr/>
          <p:nvPr/>
        </p:nvSpPr>
        <p:spPr>
          <a:xfrm>
            <a:off x="4663440" y="4023360"/>
            <a:ext cx="4206240" cy="6858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32" name="Text 29"/>
          <p:cNvSpPr/>
          <p:nvPr/>
        </p:nvSpPr>
        <p:spPr>
          <a:xfrm>
            <a:off x="4754880" y="402336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1B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TOTAL ESTIMÉ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7315200" y="402336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D1B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7 600 $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D1B0E"/>
          </a:solidFill>
          <a:ln w="12700">
            <a:solidFill>
              <a:srgbClr val="2D1B0E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III  /  ARBORESCENCE DU SITE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7F78"/>
                </a:solidFill>
              </a:rPr>
              <a:t>Structure et navigation du site LivresGourmands.net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520440" y="1508760"/>
            <a:ext cx="2103120" cy="502920"/>
          </a:xfrm>
          <a:prstGeom prst="rect">
            <a:avLst/>
          </a:prstGeom>
          <a:solidFill>
            <a:srgbClr val="2D1B0E"/>
          </a:solidFill>
          <a:ln w="12700">
            <a:solidFill>
              <a:srgbClr val="2D1B0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6" name="Text 4"/>
          <p:cNvSpPr/>
          <p:nvPr/>
        </p:nvSpPr>
        <p:spPr>
          <a:xfrm>
            <a:off x="3520440" y="150876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Page d'accueil  /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0" y="2011680"/>
            <a:ext cx="0" cy="502920"/>
          </a:xfrm>
          <a:prstGeom prst="line">
            <a:avLst/>
          </a:prstGeom>
          <a:noFill/>
          <a:ln w="15240">
            <a:solidFill>
              <a:srgbClr val="E8E0D5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8" name="Shape 6"/>
          <p:cNvSpPr/>
          <p:nvPr/>
        </p:nvSpPr>
        <p:spPr>
          <a:xfrm>
            <a:off x="4572000" y="2011680"/>
            <a:ext cx="0" cy="502920"/>
          </a:xfrm>
          <a:prstGeom prst="line">
            <a:avLst/>
          </a:prstGeom>
          <a:noFill/>
          <a:ln w="15240">
            <a:solidFill>
              <a:srgbClr val="E8E0D5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9" name="Shape 7"/>
          <p:cNvSpPr/>
          <p:nvPr/>
        </p:nvSpPr>
        <p:spPr>
          <a:xfrm flipH="1">
            <a:off x="2595880" y="2029968"/>
            <a:ext cx="1508760" cy="457200"/>
          </a:xfrm>
          <a:prstGeom prst="line">
            <a:avLst/>
          </a:prstGeom>
          <a:noFill/>
          <a:ln w="15240">
            <a:solidFill>
              <a:srgbClr val="E8E0D5"/>
            </a:solidFill>
            <a:prstDash val="solid"/>
          </a:ln>
        </p:spPr>
        <p:txBody>
          <a:bodyPr/>
          <a:lstStyle/>
          <a:p>
            <a:endParaRPr lang="fr-CA" dirty="0"/>
          </a:p>
        </p:txBody>
      </p:sp>
      <p:sp>
        <p:nvSpPr>
          <p:cNvPr id="10" name="Shape 8"/>
          <p:cNvSpPr/>
          <p:nvPr/>
        </p:nvSpPr>
        <p:spPr>
          <a:xfrm>
            <a:off x="4572000" y="2011680"/>
            <a:ext cx="1188720" cy="502920"/>
          </a:xfrm>
          <a:prstGeom prst="line">
            <a:avLst/>
          </a:prstGeom>
          <a:noFill/>
          <a:ln w="15240">
            <a:solidFill>
              <a:srgbClr val="E8E0D5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1" name="Shape 9"/>
          <p:cNvSpPr/>
          <p:nvPr/>
        </p:nvSpPr>
        <p:spPr>
          <a:xfrm>
            <a:off x="4572000" y="2011680"/>
            <a:ext cx="2788920" cy="502920"/>
          </a:xfrm>
          <a:prstGeom prst="line">
            <a:avLst/>
          </a:prstGeom>
          <a:noFill/>
          <a:ln w="15240">
            <a:solidFill>
              <a:srgbClr val="E8E0D5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2" name="Shape 10"/>
          <p:cNvSpPr/>
          <p:nvPr/>
        </p:nvSpPr>
        <p:spPr>
          <a:xfrm>
            <a:off x="4572000" y="2011680"/>
            <a:ext cx="4389120" cy="502920"/>
          </a:xfrm>
          <a:prstGeom prst="line">
            <a:avLst/>
          </a:prstGeom>
          <a:noFill/>
          <a:ln w="15240">
            <a:solidFill>
              <a:srgbClr val="E8E0D5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3" name="Shape 11"/>
          <p:cNvSpPr/>
          <p:nvPr/>
        </p:nvSpPr>
        <p:spPr>
          <a:xfrm>
            <a:off x="12700" y="2514600"/>
            <a:ext cx="1508760" cy="457200"/>
          </a:xfrm>
          <a:prstGeom prst="rect">
            <a:avLst/>
          </a:prstGeom>
          <a:solidFill>
            <a:srgbClr val="C4593A"/>
          </a:solidFill>
          <a:ln w="12700">
            <a:solidFill>
              <a:srgbClr val="C4593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14" name="Text 12"/>
          <p:cNvSpPr/>
          <p:nvPr/>
        </p:nvSpPr>
        <p:spPr>
          <a:xfrm>
            <a:off x="-28448" y="251460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/catalogue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1618972" y="2514600"/>
            <a:ext cx="1508760" cy="457200"/>
          </a:xfrm>
          <a:prstGeom prst="rect">
            <a:avLst/>
          </a:prstGeom>
          <a:solidFill>
            <a:srgbClr val="C4593A"/>
          </a:solidFill>
          <a:ln w="12700">
            <a:solidFill>
              <a:srgbClr val="C4593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A" dirty="0"/>
          </a:p>
        </p:txBody>
      </p:sp>
      <p:sp>
        <p:nvSpPr>
          <p:cNvPr id="16" name="Text 14"/>
          <p:cNvSpPr/>
          <p:nvPr/>
        </p:nvSpPr>
        <p:spPr>
          <a:xfrm>
            <a:off x="1810029" y="251460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/livre/:id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241548" y="2514600"/>
            <a:ext cx="1508760" cy="457200"/>
          </a:xfrm>
          <a:prstGeom prst="rect">
            <a:avLst/>
          </a:prstGeom>
          <a:solidFill>
            <a:srgbClr val="6B8F71"/>
          </a:solidFill>
          <a:ln w="12700">
            <a:solidFill>
              <a:srgbClr val="6B8F7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18" name="Text 16"/>
          <p:cNvSpPr/>
          <p:nvPr/>
        </p:nvSpPr>
        <p:spPr>
          <a:xfrm>
            <a:off x="3383280" y="251460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/panier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881880" y="2514600"/>
            <a:ext cx="1508760" cy="457200"/>
          </a:xfrm>
          <a:prstGeom prst="rect">
            <a:avLst/>
          </a:prstGeom>
          <a:solidFill>
            <a:srgbClr val="6B8F71"/>
          </a:solidFill>
          <a:ln w="12700">
            <a:solidFill>
              <a:srgbClr val="6B8F7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20" name="Text 18"/>
          <p:cNvSpPr/>
          <p:nvPr/>
        </p:nvSpPr>
        <p:spPr>
          <a:xfrm>
            <a:off x="4983480" y="251460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/login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476661" y="2532888"/>
            <a:ext cx="1508760" cy="457200"/>
          </a:xfrm>
          <a:prstGeom prst="rect">
            <a:avLst/>
          </a:prstGeom>
          <a:solidFill>
            <a:srgbClr val="6B8F71"/>
          </a:solidFill>
          <a:ln w="12700">
            <a:solidFill>
              <a:srgbClr val="6B8F7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22" name="Text 20"/>
          <p:cNvSpPr/>
          <p:nvPr/>
        </p:nvSpPr>
        <p:spPr>
          <a:xfrm>
            <a:off x="6583680" y="251460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/register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8061282" y="2532888"/>
            <a:ext cx="1070018" cy="457200"/>
          </a:xfrm>
          <a:prstGeom prst="rect">
            <a:avLst/>
          </a:prstGeom>
          <a:solidFill>
            <a:srgbClr val="B84040"/>
          </a:solidFill>
          <a:ln w="12700">
            <a:solidFill>
              <a:srgbClr val="B8404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algn="ctr"/>
            <a:endParaRPr lang="fr-CA" dirty="0"/>
          </a:p>
        </p:txBody>
      </p:sp>
      <p:sp>
        <p:nvSpPr>
          <p:cNvPr id="24" name="Text 22"/>
          <p:cNvSpPr/>
          <p:nvPr/>
        </p:nvSpPr>
        <p:spPr>
          <a:xfrm>
            <a:off x="8183880" y="251460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/admin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682764" y="3345011"/>
            <a:ext cx="1371600" cy="384048"/>
          </a:xfrm>
          <a:prstGeom prst="rect">
            <a:avLst/>
          </a:prstGeom>
          <a:solidFill>
            <a:srgbClr val="D4D0C8"/>
          </a:solidFill>
          <a:ln w="12700">
            <a:solidFill>
              <a:srgbClr val="BBBBBB"/>
            </a:solidFill>
            <a:prstDash val="solid"/>
          </a:ln>
        </p:spPr>
        <p:txBody>
          <a:bodyPr/>
          <a:lstStyle/>
          <a:p>
            <a:pPr algn="ctr"/>
            <a:r>
              <a:rPr lang="en-US" sz="800" dirty="0" err="1">
                <a:solidFill>
                  <a:srgbClr val="1C1C1C"/>
                </a:solidFill>
              </a:rPr>
              <a:t>Ouvrages</a:t>
            </a:r>
            <a:r>
              <a:rPr lang="en-US" sz="800" dirty="0">
                <a:solidFill>
                  <a:srgbClr val="1C1C1C"/>
                </a:solidFill>
              </a:rPr>
              <a:t> CRUD 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 flipH="1">
            <a:off x="839892" y="2000841"/>
            <a:ext cx="2788919" cy="502921"/>
          </a:xfrm>
          <a:prstGeom prst="line">
            <a:avLst/>
          </a:prstGeom>
          <a:noFill/>
          <a:ln w="12700">
            <a:solidFill>
              <a:srgbClr val="E8E0D5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29" name="Shape 27"/>
          <p:cNvSpPr/>
          <p:nvPr/>
        </p:nvSpPr>
        <p:spPr>
          <a:xfrm flipH="1">
            <a:off x="8595360" y="2971800"/>
            <a:ext cx="338328" cy="886968"/>
          </a:xfrm>
          <a:prstGeom prst="line">
            <a:avLst/>
          </a:prstGeom>
          <a:noFill/>
          <a:ln w="12700">
            <a:solidFill>
              <a:srgbClr val="E8E0D5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32" name="Text 30"/>
          <p:cNvSpPr/>
          <p:nvPr/>
        </p:nvSpPr>
        <p:spPr>
          <a:xfrm>
            <a:off x="6766560" y="333756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274320" y="41605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C1C1C"/>
                </a:solidFill>
              </a:rPr>
              <a:t>Légende :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74320" y="4526280"/>
            <a:ext cx="201168" cy="201168"/>
          </a:xfrm>
          <a:prstGeom prst="rect">
            <a:avLst/>
          </a:prstGeom>
          <a:solidFill>
            <a:srgbClr val="2D1B0E"/>
          </a:solidFill>
          <a:ln w="12700">
            <a:solidFill>
              <a:srgbClr val="2D1B0E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37" name="Text 35"/>
          <p:cNvSpPr/>
          <p:nvPr/>
        </p:nvSpPr>
        <p:spPr>
          <a:xfrm>
            <a:off x="521208" y="4507992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7F78"/>
                </a:solidFill>
              </a:rPr>
              <a:t>Page principale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2011680" y="4526280"/>
            <a:ext cx="201168" cy="201168"/>
          </a:xfrm>
          <a:prstGeom prst="rect">
            <a:avLst/>
          </a:prstGeom>
          <a:solidFill>
            <a:srgbClr val="C4593A"/>
          </a:solidFill>
          <a:ln w="12700">
            <a:solidFill>
              <a:srgbClr val="C4593A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39" name="Text 37"/>
          <p:cNvSpPr/>
          <p:nvPr/>
        </p:nvSpPr>
        <p:spPr>
          <a:xfrm>
            <a:off x="2258568" y="4507992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7F78"/>
                </a:solidFill>
              </a:rPr>
              <a:t>Pages publiques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3749040" y="4526280"/>
            <a:ext cx="201168" cy="201168"/>
          </a:xfrm>
          <a:prstGeom prst="rect">
            <a:avLst/>
          </a:prstGeom>
          <a:solidFill>
            <a:srgbClr val="6B8F71"/>
          </a:solidFill>
          <a:ln w="12700">
            <a:solidFill>
              <a:srgbClr val="6B8F71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41" name="Text 39"/>
          <p:cNvSpPr/>
          <p:nvPr/>
        </p:nvSpPr>
        <p:spPr>
          <a:xfrm>
            <a:off x="3995928" y="4507992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7F78"/>
                </a:solidFill>
              </a:rPr>
              <a:t>Pages auth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5486400" y="4526280"/>
            <a:ext cx="201168" cy="201168"/>
          </a:xfrm>
          <a:prstGeom prst="rect">
            <a:avLst/>
          </a:prstGeom>
          <a:solidFill>
            <a:srgbClr val="B84040"/>
          </a:solidFill>
          <a:ln w="12700">
            <a:solidFill>
              <a:srgbClr val="B84040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43" name="Text 41"/>
          <p:cNvSpPr/>
          <p:nvPr/>
        </p:nvSpPr>
        <p:spPr>
          <a:xfrm>
            <a:off x="5733288" y="4507992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7F78"/>
                </a:solidFill>
              </a:rPr>
              <a:t>Route protégée (admin)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7223760" y="4526280"/>
            <a:ext cx="201168" cy="201168"/>
          </a:xfrm>
          <a:prstGeom prst="rect">
            <a:avLst/>
          </a:prstGeom>
          <a:solidFill>
            <a:srgbClr val="D4D0C8"/>
          </a:solidFill>
          <a:ln w="12700">
            <a:solidFill>
              <a:srgbClr val="D4D0C8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45" name="Text 43"/>
          <p:cNvSpPr/>
          <p:nvPr/>
        </p:nvSpPr>
        <p:spPr>
          <a:xfrm>
            <a:off x="7470648" y="4507992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7F78"/>
                </a:solidFill>
              </a:rPr>
              <a:t>Sous-pages admin</a:t>
            </a:r>
            <a:endParaRPr lang="en-US" sz="750" dirty="0"/>
          </a:p>
        </p:txBody>
      </p:sp>
      <p:sp>
        <p:nvSpPr>
          <p:cNvPr id="46" name="Shape 7">
            <a:extLst>
              <a:ext uri="{FF2B5EF4-FFF2-40B4-BE49-F238E27FC236}">
                <a16:creationId xmlns:a16="http://schemas.microsoft.com/office/drawing/2014/main" id="{613BCD53-424A-5899-DF77-786E7DDE4297}"/>
              </a:ext>
            </a:extLst>
          </p:cNvPr>
          <p:cNvSpPr/>
          <p:nvPr/>
        </p:nvSpPr>
        <p:spPr>
          <a:xfrm flipV="1">
            <a:off x="7470648" y="3007529"/>
            <a:ext cx="1124702" cy="319194"/>
          </a:xfrm>
          <a:prstGeom prst="line">
            <a:avLst/>
          </a:prstGeom>
          <a:noFill/>
          <a:ln w="15240">
            <a:solidFill>
              <a:srgbClr val="E8E0D5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49" name="Shape 24">
            <a:extLst>
              <a:ext uri="{FF2B5EF4-FFF2-40B4-BE49-F238E27FC236}">
                <a16:creationId xmlns:a16="http://schemas.microsoft.com/office/drawing/2014/main" id="{C48E92D6-55A9-7807-7DEC-B3C838330BC0}"/>
              </a:ext>
            </a:extLst>
          </p:cNvPr>
          <p:cNvSpPr/>
          <p:nvPr/>
        </p:nvSpPr>
        <p:spPr>
          <a:xfrm>
            <a:off x="7691120" y="3877056"/>
            <a:ext cx="1371600" cy="384048"/>
          </a:xfrm>
          <a:prstGeom prst="rect">
            <a:avLst/>
          </a:prstGeom>
          <a:solidFill>
            <a:srgbClr val="D4D0C8"/>
          </a:solidFill>
          <a:ln w="12700">
            <a:solidFill>
              <a:srgbClr val="BBBBBB"/>
            </a:solidFill>
            <a:prstDash val="solid"/>
          </a:ln>
        </p:spPr>
        <p:txBody>
          <a:bodyPr/>
          <a:lstStyle/>
          <a:p>
            <a:r>
              <a:rPr lang="fr-CA" sz="800" dirty="0">
                <a:solidFill>
                  <a:srgbClr val="1C1C1C"/>
                </a:solidFill>
              </a:rPr>
              <a:t>            </a:t>
            </a:r>
          </a:p>
          <a:p>
            <a:r>
              <a:rPr lang="fr-CA" sz="800" dirty="0">
                <a:solidFill>
                  <a:srgbClr val="1C1C1C"/>
                </a:solidFill>
              </a:rPr>
              <a:t>               Commandes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D1B0E"/>
          </a:solidFill>
          <a:ln w="12700">
            <a:solidFill>
              <a:srgbClr val="2D1B0E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IV  /  WIREFRAME  —  4.1 Affichage Ordinateur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7406640" y="33375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C1C1C"/>
                </a:solidFill>
              </a:rPr>
              <a:t>V</a:t>
            </a:r>
            <a:endParaRPr lang="en-US" sz="700" dirty="0"/>
          </a:p>
        </p:txBody>
      </p:sp>
      <p:pic>
        <p:nvPicPr>
          <p:cNvPr id="39" name="Image 38">
            <a:extLst>
              <a:ext uri="{FF2B5EF4-FFF2-40B4-BE49-F238E27FC236}">
                <a16:creationId xmlns:a16="http://schemas.microsoft.com/office/drawing/2014/main" id="{3BD8086B-A76C-2EF5-9F64-FF054F5B8F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084" y="1062567"/>
            <a:ext cx="8582951" cy="408093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337DA3-DEA9-8E7D-4620-ABC2C4B4C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915C326-C257-0D3B-B52B-15B532E08DAE}"/>
              </a:ext>
            </a:extLst>
          </p:cNvPr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D1B0E"/>
          </a:solidFill>
          <a:ln w="12700">
            <a:solidFill>
              <a:srgbClr val="2D1B0E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587D68D-A52C-A20A-4759-7F4CEADDFEC3}"/>
              </a:ext>
            </a:extLst>
          </p:cNvPr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IV  /  WIREFRAME  —  4.1 Affichage Ordinateur</a:t>
            </a:r>
            <a:endParaRPr lang="en-US" sz="2000" dirty="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FB4B62DB-EA48-32BB-26B7-25FC9038A985}"/>
              </a:ext>
            </a:extLst>
          </p:cNvPr>
          <p:cNvSpPr/>
          <p:nvPr/>
        </p:nvSpPr>
        <p:spPr>
          <a:xfrm>
            <a:off x="7406640" y="33375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C1C1C"/>
                </a:solidFill>
              </a:rPr>
              <a:t>V</a:t>
            </a:r>
            <a:endParaRPr lang="en-US" sz="700" dirty="0"/>
          </a:p>
        </p:txBody>
      </p:sp>
      <p:pic>
        <p:nvPicPr>
          <p:cNvPr id="37" name="Image 36">
            <a:extLst>
              <a:ext uri="{FF2B5EF4-FFF2-40B4-BE49-F238E27FC236}">
                <a16:creationId xmlns:a16="http://schemas.microsoft.com/office/drawing/2014/main" id="{362E40D6-2D83-43B2-9EA9-DD46D3CEC6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746" y="1093748"/>
            <a:ext cx="7825616" cy="3837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7295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1A5183-E816-F177-B363-43569BB54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0A8086C-ADA9-D518-25B3-004F372775A3}"/>
              </a:ext>
            </a:extLst>
          </p:cNvPr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D1B0E"/>
          </a:solidFill>
          <a:ln w="12700">
            <a:solidFill>
              <a:srgbClr val="2D1B0E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ABC9B7E-C945-9752-C9EF-40DF39B0287D}"/>
              </a:ext>
            </a:extLst>
          </p:cNvPr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IV  /  WIREFRAME  —  4.1 Affichage Ordinateur</a:t>
            </a:r>
            <a:endParaRPr lang="en-US" sz="2000" dirty="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012C300D-39C1-E822-9249-DD1122F5ED03}"/>
              </a:ext>
            </a:extLst>
          </p:cNvPr>
          <p:cNvSpPr/>
          <p:nvPr/>
        </p:nvSpPr>
        <p:spPr>
          <a:xfrm>
            <a:off x="7406640" y="33375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C1C1C"/>
                </a:solidFill>
              </a:rPr>
              <a:t>V</a:t>
            </a:r>
            <a:endParaRPr lang="en-US" sz="700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9AE56340-03C3-0C2C-ED0C-97BC31A4BD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177" y="1005840"/>
            <a:ext cx="8198623" cy="3900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20395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D1B0E"/>
          </a:solidFill>
          <a:ln w="12700">
            <a:solidFill>
              <a:srgbClr val="2D1B0E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IV  /  WIREFRAME  —  4.2 Tablette  ·  4.3 Mobile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107899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45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4.2  Affichage Tablette (768px)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1480" y="3987487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4754880" y="107899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45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4.3  Affichage Mobile (&lt; 576px)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92240" y="4892040"/>
            <a:ext cx="182880" cy="18288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26" name="Text 24"/>
          <p:cNvSpPr/>
          <p:nvPr/>
        </p:nvSpPr>
        <p:spPr>
          <a:xfrm>
            <a:off x="5559552" y="1600200"/>
            <a:ext cx="20482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650" dirty="0"/>
          </a:p>
        </p:txBody>
      </p:sp>
      <p:sp>
        <p:nvSpPr>
          <p:cNvPr id="44" name="Text 42"/>
          <p:cNvSpPr/>
          <p:nvPr/>
        </p:nvSpPr>
        <p:spPr>
          <a:xfrm>
            <a:off x="4709160" y="4846320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8A7F78"/>
                </a:solidFill>
              </a:rPr>
              <a:t>Navigation mobile : hamburger menu · Panier avec badge · Touch-friendly (min 44px)</a:t>
            </a:r>
            <a:endParaRPr lang="en-US" sz="700" dirty="0"/>
          </a:p>
        </p:txBody>
      </p:sp>
      <p:pic>
        <p:nvPicPr>
          <p:cNvPr id="49" name="Image 48">
            <a:extLst>
              <a:ext uri="{FF2B5EF4-FFF2-40B4-BE49-F238E27FC236}">
                <a16:creationId xmlns:a16="http://schemas.microsoft.com/office/drawing/2014/main" id="{724D24C0-C016-05D2-1D49-921985C7AD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8990" y="1418464"/>
            <a:ext cx="1600536" cy="3400383"/>
          </a:xfrm>
          <a:prstGeom prst="rect">
            <a:avLst/>
          </a:prstGeom>
        </p:spPr>
      </p:pic>
      <p:pic>
        <p:nvPicPr>
          <p:cNvPr id="52" name="Image 51">
            <a:extLst>
              <a:ext uri="{FF2B5EF4-FFF2-40B4-BE49-F238E27FC236}">
                <a16:creationId xmlns:a16="http://schemas.microsoft.com/office/drawing/2014/main" id="{5724FB45-C86D-58A9-95A0-29A2A863EA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410" y="1472184"/>
            <a:ext cx="2633685" cy="351002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D1B0E"/>
          </a:solidFill>
          <a:ln w="12700">
            <a:solidFill>
              <a:srgbClr val="2D1B0E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  /  PLANCHE DE TENDANCE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10972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D1B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GASTRONOMIE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16002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45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AUTHENTICITÉ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474720" y="11430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ÉLÉGANCE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474720" y="16002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7F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RAFFINEMENT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4320" y="19659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B8F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PASSION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286000" y="19659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7F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CONVIVIALITÉ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2423160"/>
            <a:ext cx="1920240" cy="1371600"/>
          </a:xfrm>
          <a:prstGeom prst="rect">
            <a:avLst/>
          </a:prstGeom>
          <a:solidFill>
            <a:srgbClr val="C4593A">
              <a:alpha val="80000"/>
            </a:srgbClr>
          </a:solidFill>
          <a:ln w="6350">
            <a:solidFill>
              <a:srgbClr val="E8E0D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11" name="Text 9"/>
          <p:cNvSpPr/>
          <p:nvPr/>
        </p:nvSpPr>
        <p:spPr>
          <a:xfrm>
            <a:off x="320040" y="2926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FFFFFF"/>
                </a:solidFill>
              </a:rPr>
              <a:t>Gastronomie</a:t>
            </a:r>
            <a:endParaRPr lang="en-US" sz="750" dirty="0"/>
          </a:p>
          <a:p>
            <a:pPr marL="0" indent="0" algn="ctr">
              <a:buNone/>
            </a:pPr>
            <a:r>
              <a:rPr lang="en-US" sz="750" i="1" dirty="0">
                <a:solidFill>
                  <a:srgbClr val="FFFFFF"/>
                </a:solidFill>
              </a:rPr>
              <a:t>française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496433" y="2446020"/>
            <a:ext cx="1371600" cy="1371600"/>
          </a:xfrm>
          <a:prstGeom prst="rect">
            <a:avLst/>
          </a:prstGeom>
          <a:solidFill>
            <a:srgbClr val="6B8F71">
              <a:alpha val="80000"/>
            </a:srgbClr>
          </a:solidFill>
          <a:ln w="6350">
            <a:solidFill>
              <a:srgbClr val="E8E0D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13" name="Text 11"/>
          <p:cNvSpPr/>
          <p:nvPr/>
        </p:nvSpPr>
        <p:spPr>
          <a:xfrm>
            <a:off x="2331720" y="292608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FFFFFF"/>
                </a:solidFill>
              </a:rPr>
              <a:t>Herbes</a:t>
            </a:r>
            <a:endParaRPr lang="en-US" sz="750" dirty="0"/>
          </a:p>
          <a:p>
            <a:pPr marL="0" indent="0" algn="ctr">
              <a:buNone/>
            </a:pPr>
            <a:r>
              <a:rPr lang="en-US" sz="750" i="1" dirty="0">
                <a:solidFill>
                  <a:srgbClr val="FFFFFF"/>
                </a:solidFill>
              </a:rPr>
              <a:t>fines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251960" y="2423160"/>
            <a:ext cx="2286000" cy="1371600"/>
          </a:xfrm>
          <a:prstGeom prst="rect">
            <a:avLst/>
          </a:prstGeom>
          <a:solidFill>
            <a:srgbClr val="2D1B0E">
              <a:alpha val="80000"/>
            </a:srgbClr>
          </a:solidFill>
          <a:ln w="6350">
            <a:solidFill>
              <a:srgbClr val="E8E0D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15" name="Text 13"/>
          <p:cNvSpPr/>
          <p:nvPr/>
        </p:nvSpPr>
        <p:spPr>
          <a:xfrm>
            <a:off x="3794760" y="29260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FFFFFF"/>
                </a:solidFill>
              </a:rPr>
              <a:t>Couvertures</a:t>
            </a:r>
            <a:endParaRPr lang="en-US" sz="750" dirty="0"/>
          </a:p>
          <a:p>
            <a:pPr marL="0" indent="0" algn="ctr">
              <a:buNone/>
            </a:pPr>
            <a:r>
              <a:rPr lang="en-US" sz="750" i="1" dirty="0">
                <a:solidFill>
                  <a:srgbClr val="FFFFFF"/>
                </a:solidFill>
              </a:rPr>
              <a:t>de livres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6647567" y="2446020"/>
            <a:ext cx="1371600" cy="594360"/>
          </a:xfrm>
          <a:prstGeom prst="rect">
            <a:avLst/>
          </a:prstGeom>
          <a:solidFill>
            <a:srgbClr val="E8A838">
              <a:alpha val="80000"/>
            </a:srgbClr>
          </a:solidFill>
          <a:ln w="6350">
            <a:solidFill>
              <a:srgbClr val="E8E0D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17" name="Text 15"/>
          <p:cNvSpPr/>
          <p:nvPr/>
        </p:nvSpPr>
        <p:spPr>
          <a:xfrm>
            <a:off x="6693287" y="25374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FFFFFF"/>
                </a:solidFill>
              </a:rPr>
              <a:t>Épices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6647567" y="3108960"/>
            <a:ext cx="1371600" cy="685800"/>
          </a:xfrm>
          <a:prstGeom prst="rect">
            <a:avLst/>
          </a:prstGeom>
          <a:solidFill>
            <a:srgbClr val="8A7F78">
              <a:alpha val="80000"/>
            </a:srgbClr>
          </a:solidFill>
          <a:ln w="6350">
            <a:solidFill>
              <a:srgbClr val="E8E0D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19" name="Text 17"/>
          <p:cNvSpPr/>
          <p:nvPr/>
        </p:nvSpPr>
        <p:spPr>
          <a:xfrm>
            <a:off x="6693287" y="326898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FFFFFF"/>
                </a:solidFill>
              </a:rPr>
              <a:t>Ustensiles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7635240" y="292608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FFFFFF"/>
                </a:solidFill>
              </a:rPr>
              <a:t>Pâtisserie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5760720" y="1078992"/>
            <a:ext cx="3108960" cy="1280160"/>
          </a:xfrm>
          <a:prstGeom prst="rect">
            <a:avLst/>
          </a:prstGeom>
          <a:solidFill>
            <a:srgbClr val="FAF7F2"/>
          </a:solidFill>
          <a:ln w="6350">
            <a:solidFill>
              <a:srgbClr val="E8E0D5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23" name="Text 21"/>
          <p:cNvSpPr/>
          <p:nvPr/>
        </p:nvSpPr>
        <p:spPr>
          <a:xfrm>
            <a:off x="5897880" y="1170432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1B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 visuel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897880" y="1481328"/>
            <a:ext cx="28346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7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Chaleureux &amp; raffiné
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A7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Tons espresso, terracotta et doré
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A7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Typographies serif élégantes
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A7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 culinaires authentiques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FAF7F2"/>
          </a:solidFill>
          <a:ln w="3810">
            <a:solidFill>
              <a:srgbClr val="E8E0D5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26" name="Text 24"/>
          <p:cNvSpPr/>
          <p:nvPr/>
        </p:nvSpPr>
        <p:spPr>
          <a:xfrm>
            <a:off x="274320" y="4846320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8A7F78"/>
                </a:solidFill>
              </a:rPr>
              <a:t>Les images et textures s'inspirent de la gastronomie française, du monde de l'édition culinaire et des marchés provençaux.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D1B0E"/>
          </a:solidFill>
          <a:ln w="12700">
            <a:solidFill>
              <a:srgbClr val="2D1B0E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  /  CHARTE GRAPHIQUE  —  6.2 Couleurs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107899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A7F78"/>
                </a:solidFill>
              </a:rPr>
              <a:t>La palette de couleurs de LivresGourmands est inspirée de la gastronomie française, du café et de l'automne québécois.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320040" y="1508760"/>
            <a:ext cx="1463040" cy="438912"/>
          </a:xfrm>
          <a:prstGeom prst="rect">
            <a:avLst/>
          </a:prstGeom>
          <a:solidFill>
            <a:srgbClr val="2D1B0E"/>
          </a:solidFill>
          <a:ln w="381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6" name="Shape 4"/>
          <p:cNvSpPr/>
          <p:nvPr/>
        </p:nvSpPr>
        <p:spPr>
          <a:xfrm>
            <a:off x="320040" y="1801368"/>
            <a:ext cx="1463040" cy="164592"/>
          </a:xfrm>
          <a:prstGeom prst="rect">
            <a:avLst/>
          </a:prstGeom>
          <a:solidFill>
            <a:srgbClr val="EEEEEE">
              <a:alpha val="40000"/>
            </a:srgbClr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7" name="Text 5"/>
          <p:cNvSpPr/>
          <p:nvPr/>
        </p:nvSpPr>
        <p:spPr>
          <a:xfrm>
            <a:off x="320040" y="1801368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#2D1B0E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1920240" y="150876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2D1B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Espresso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920240" y="1746504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7F78"/>
                </a:solidFill>
              </a:rPr>
              <a:t>RVB : 45, 27, 14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114800" y="1563624"/>
            <a:ext cx="4709160" cy="329184"/>
          </a:xfrm>
          <a:prstGeom prst="rect">
            <a:avLst/>
          </a:prstGeom>
          <a:solidFill>
            <a:srgbClr val="FAF7F2"/>
          </a:solidFill>
          <a:ln w="3810">
            <a:solidFill>
              <a:srgbClr val="E8E0D5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1" name="Shape 9"/>
          <p:cNvSpPr/>
          <p:nvPr/>
        </p:nvSpPr>
        <p:spPr>
          <a:xfrm>
            <a:off x="4114800" y="1563624"/>
            <a:ext cx="54864" cy="329184"/>
          </a:xfrm>
          <a:prstGeom prst="rect">
            <a:avLst/>
          </a:prstGeom>
          <a:solidFill>
            <a:srgbClr val="2D1B0E"/>
          </a:solidFill>
          <a:ln w="12700">
            <a:solidFill>
              <a:srgbClr val="2D1B0E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2" name="Text 10"/>
          <p:cNvSpPr/>
          <p:nvPr/>
        </p:nvSpPr>
        <p:spPr>
          <a:xfrm>
            <a:off x="4251960" y="1563624"/>
            <a:ext cx="4526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1C1C"/>
                </a:solidFill>
              </a:rPr>
              <a:t>Usage : Textes principaux, sidebar, hero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20040" y="2020824"/>
            <a:ext cx="1463040" cy="438912"/>
          </a:xfrm>
          <a:prstGeom prst="rect">
            <a:avLst/>
          </a:prstGeom>
          <a:solidFill>
            <a:srgbClr val="C4593A"/>
          </a:solidFill>
          <a:ln w="381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14" name="Shape 12"/>
          <p:cNvSpPr/>
          <p:nvPr/>
        </p:nvSpPr>
        <p:spPr>
          <a:xfrm>
            <a:off x="320040" y="2313432"/>
            <a:ext cx="1463040" cy="164592"/>
          </a:xfrm>
          <a:prstGeom prst="rect">
            <a:avLst/>
          </a:prstGeom>
          <a:solidFill>
            <a:srgbClr val="EEEEEE">
              <a:alpha val="40000"/>
            </a:srgbClr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5" name="Text 13"/>
          <p:cNvSpPr/>
          <p:nvPr/>
        </p:nvSpPr>
        <p:spPr>
          <a:xfrm>
            <a:off x="320040" y="231343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#C4593A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1920240" y="202082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2D1B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Terracotta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920240" y="225856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7F78"/>
                </a:solidFill>
              </a:rPr>
              <a:t>RVB : 196, 89, 58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114800" y="2075688"/>
            <a:ext cx="4709160" cy="329184"/>
          </a:xfrm>
          <a:prstGeom prst="rect">
            <a:avLst/>
          </a:prstGeom>
          <a:solidFill>
            <a:srgbClr val="FAF7F2"/>
          </a:solidFill>
          <a:ln w="3810">
            <a:solidFill>
              <a:srgbClr val="E8E0D5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9" name="Shape 17"/>
          <p:cNvSpPr/>
          <p:nvPr/>
        </p:nvSpPr>
        <p:spPr>
          <a:xfrm>
            <a:off x="4114800" y="2075688"/>
            <a:ext cx="54864" cy="329184"/>
          </a:xfrm>
          <a:prstGeom prst="rect">
            <a:avLst/>
          </a:prstGeom>
          <a:solidFill>
            <a:srgbClr val="C4593A"/>
          </a:solidFill>
          <a:ln w="12700">
            <a:solidFill>
              <a:srgbClr val="C4593A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20" name="Text 18"/>
          <p:cNvSpPr/>
          <p:nvPr/>
        </p:nvSpPr>
        <p:spPr>
          <a:xfrm>
            <a:off x="4251960" y="2075688"/>
            <a:ext cx="4526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1C1C"/>
                </a:solidFill>
              </a:rPr>
              <a:t>Usage : Boutons CTA, prix, accents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20040" y="2532888"/>
            <a:ext cx="1463040" cy="438912"/>
          </a:xfrm>
          <a:prstGeom prst="rect">
            <a:avLst/>
          </a:prstGeom>
          <a:solidFill>
            <a:srgbClr val="E8A838"/>
          </a:solidFill>
          <a:ln w="381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22" name="Shape 20"/>
          <p:cNvSpPr/>
          <p:nvPr/>
        </p:nvSpPr>
        <p:spPr>
          <a:xfrm>
            <a:off x="320040" y="2825496"/>
            <a:ext cx="1463040" cy="164592"/>
          </a:xfrm>
          <a:prstGeom prst="rect">
            <a:avLst/>
          </a:prstGeom>
          <a:solidFill>
            <a:srgbClr val="EEEEEE">
              <a:alpha val="40000"/>
            </a:srgbClr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23" name="Text 21"/>
          <p:cNvSpPr/>
          <p:nvPr/>
        </p:nvSpPr>
        <p:spPr>
          <a:xfrm>
            <a:off x="320040" y="2825496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#E8A838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1920240" y="253288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2D1B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Safran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920240" y="277063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7F78"/>
                </a:solidFill>
              </a:rPr>
              <a:t>RVB : 232, 168, 56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114800" y="2587752"/>
            <a:ext cx="4709160" cy="329184"/>
          </a:xfrm>
          <a:prstGeom prst="rect">
            <a:avLst/>
          </a:prstGeom>
          <a:solidFill>
            <a:srgbClr val="FAF7F2"/>
          </a:solidFill>
          <a:ln w="3810">
            <a:solidFill>
              <a:srgbClr val="E8E0D5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27" name="Shape 25"/>
          <p:cNvSpPr/>
          <p:nvPr/>
        </p:nvSpPr>
        <p:spPr>
          <a:xfrm>
            <a:off x="4114800" y="2587752"/>
            <a:ext cx="54864" cy="329184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28" name="Text 26"/>
          <p:cNvSpPr/>
          <p:nvPr/>
        </p:nvSpPr>
        <p:spPr>
          <a:xfrm>
            <a:off x="4251960" y="2587752"/>
            <a:ext cx="4526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1C1C"/>
                </a:solidFill>
              </a:rPr>
              <a:t>Usage : Totaux, accents dorés, étoiles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20040" y="3044952"/>
            <a:ext cx="1463040" cy="438912"/>
          </a:xfrm>
          <a:prstGeom prst="rect">
            <a:avLst/>
          </a:prstGeom>
          <a:solidFill>
            <a:srgbClr val="6B8F71"/>
          </a:solidFill>
          <a:ln w="381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30" name="Shape 28"/>
          <p:cNvSpPr/>
          <p:nvPr/>
        </p:nvSpPr>
        <p:spPr>
          <a:xfrm>
            <a:off x="320040" y="3337560"/>
            <a:ext cx="1463040" cy="164592"/>
          </a:xfrm>
          <a:prstGeom prst="rect">
            <a:avLst/>
          </a:prstGeom>
          <a:solidFill>
            <a:srgbClr val="EEEEEE">
              <a:alpha val="40000"/>
            </a:srgbClr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31" name="Text 29"/>
          <p:cNvSpPr/>
          <p:nvPr/>
        </p:nvSpPr>
        <p:spPr>
          <a:xfrm>
            <a:off x="320040" y="333756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#6B8F71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1920240" y="304495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2D1B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Sauge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920240" y="3282696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7F78"/>
                </a:solidFill>
              </a:rPr>
              <a:t>RVB : 107, 143, 113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114800" y="3099816"/>
            <a:ext cx="4709160" cy="329184"/>
          </a:xfrm>
          <a:prstGeom prst="rect">
            <a:avLst/>
          </a:prstGeom>
          <a:solidFill>
            <a:srgbClr val="FAF7F2"/>
          </a:solidFill>
          <a:ln w="3810">
            <a:solidFill>
              <a:srgbClr val="E8E0D5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35" name="Shape 33"/>
          <p:cNvSpPr/>
          <p:nvPr/>
        </p:nvSpPr>
        <p:spPr>
          <a:xfrm>
            <a:off x="4114800" y="3099816"/>
            <a:ext cx="54864" cy="329184"/>
          </a:xfrm>
          <a:prstGeom prst="rect">
            <a:avLst/>
          </a:prstGeom>
          <a:solidFill>
            <a:srgbClr val="6B8F71"/>
          </a:solidFill>
          <a:ln w="12700">
            <a:solidFill>
              <a:srgbClr val="6B8F71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36" name="Text 34"/>
          <p:cNvSpPr/>
          <p:nvPr/>
        </p:nvSpPr>
        <p:spPr>
          <a:xfrm>
            <a:off x="4251960" y="3099816"/>
            <a:ext cx="4526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1C1C"/>
                </a:solidFill>
              </a:rPr>
              <a:t>Usage : Succès, stock disponible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20040" y="3557016"/>
            <a:ext cx="1463040" cy="438912"/>
          </a:xfrm>
          <a:prstGeom prst="rect">
            <a:avLst/>
          </a:prstGeom>
          <a:solidFill>
            <a:srgbClr val="8A7F78"/>
          </a:solidFill>
          <a:ln w="381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38" name="Shape 36"/>
          <p:cNvSpPr/>
          <p:nvPr/>
        </p:nvSpPr>
        <p:spPr>
          <a:xfrm>
            <a:off x="320040" y="3849624"/>
            <a:ext cx="1463040" cy="164592"/>
          </a:xfrm>
          <a:prstGeom prst="rect">
            <a:avLst/>
          </a:prstGeom>
          <a:solidFill>
            <a:srgbClr val="EEEEEE">
              <a:alpha val="40000"/>
            </a:srgbClr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39" name="Text 37"/>
          <p:cNvSpPr/>
          <p:nvPr/>
        </p:nvSpPr>
        <p:spPr>
          <a:xfrm>
            <a:off x="320040" y="3849624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D1B0E"/>
                </a:solidFill>
              </a:rPr>
              <a:t>#8A7F78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1920240" y="355701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2D1B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Terreau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920240" y="379476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7F78"/>
                </a:solidFill>
              </a:rPr>
              <a:t>RVB : 138, 127, 120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114800" y="3611880"/>
            <a:ext cx="4709160" cy="329184"/>
          </a:xfrm>
          <a:prstGeom prst="rect">
            <a:avLst/>
          </a:prstGeom>
          <a:solidFill>
            <a:srgbClr val="FAF7F2"/>
          </a:solidFill>
          <a:ln w="3810">
            <a:solidFill>
              <a:srgbClr val="E8E0D5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43" name="Shape 41"/>
          <p:cNvSpPr/>
          <p:nvPr/>
        </p:nvSpPr>
        <p:spPr>
          <a:xfrm>
            <a:off x="4114800" y="3611880"/>
            <a:ext cx="54864" cy="329184"/>
          </a:xfrm>
          <a:prstGeom prst="rect">
            <a:avLst/>
          </a:prstGeom>
          <a:solidFill>
            <a:srgbClr val="8A7F78"/>
          </a:solidFill>
          <a:ln w="12700">
            <a:solidFill>
              <a:srgbClr val="8A7F78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44" name="Text 42"/>
          <p:cNvSpPr/>
          <p:nvPr/>
        </p:nvSpPr>
        <p:spPr>
          <a:xfrm>
            <a:off x="4251960" y="3611880"/>
            <a:ext cx="4526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1C1C"/>
                </a:solidFill>
              </a:rPr>
              <a:t>Usage : Textes secondaires, auteurs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320040" y="4069080"/>
            <a:ext cx="1463040" cy="438912"/>
          </a:xfrm>
          <a:prstGeom prst="rect">
            <a:avLst/>
          </a:prstGeom>
          <a:solidFill>
            <a:srgbClr val="E8E0D5"/>
          </a:solidFill>
          <a:ln w="381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46" name="Shape 44"/>
          <p:cNvSpPr/>
          <p:nvPr/>
        </p:nvSpPr>
        <p:spPr>
          <a:xfrm>
            <a:off x="320040" y="4361688"/>
            <a:ext cx="1463040" cy="164592"/>
          </a:xfrm>
          <a:prstGeom prst="rect">
            <a:avLst/>
          </a:prstGeom>
          <a:solidFill>
            <a:srgbClr val="EEEEEE">
              <a:alpha val="40000"/>
            </a:srgbClr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47" name="Text 45"/>
          <p:cNvSpPr/>
          <p:nvPr/>
        </p:nvSpPr>
        <p:spPr>
          <a:xfrm>
            <a:off x="320040" y="4361688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D1B0E"/>
                </a:solidFill>
              </a:rPr>
              <a:t>#E8E0D5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1920240" y="406908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2D1B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Sable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1920240" y="4306824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7F78"/>
                </a:solidFill>
              </a:rPr>
              <a:t>RVB : 232, 224, 213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4114800" y="4123944"/>
            <a:ext cx="4709160" cy="329184"/>
          </a:xfrm>
          <a:prstGeom prst="rect">
            <a:avLst/>
          </a:prstGeom>
          <a:solidFill>
            <a:srgbClr val="FAF7F2"/>
          </a:solidFill>
          <a:ln w="3810">
            <a:solidFill>
              <a:srgbClr val="E8E0D5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51" name="Shape 49"/>
          <p:cNvSpPr/>
          <p:nvPr/>
        </p:nvSpPr>
        <p:spPr>
          <a:xfrm>
            <a:off x="4114800" y="4123944"/>
            <a:ext cx="54864" cy="329184"/>
          </a:xfrm>
          <a:prstGeom prst="rect">
            <a:avLst/>
          </a:prstGeom>
          <a:solidFill>
            <a:srgbClr val="E8E0D5"/>
          </a:solidFill>
          <a:ln w="12700">
            <a:solidFill>
              <a:srgbClr val="E8E0D5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52" name="Text 50"/>
          <p:cNvSpPr/>
          <p:nvPr/>
        </p:nvSpPr>
        <p:spPr>
          <a:xfrm>
            <a:off x="4251960" y="4123944"/>
            <a:ext cx="4526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1C1C"/>
                </a:solidFill>
              </a:rPr>
              <a:t>Usage : Bordures, séparateurs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320040" y="4581144"/>
            <a:ext cx="1463040" cy="438912"/>
          </a:xfrm>
          <a:prstGeom prst="rect">
            <a:avLst/>
          </a:prstGeom>
          <a:solidFill>
            <a:srgbClr val="FAF7F2"/>
          </a:solidFill>
          <a:ln w="381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54" name="Shape 52"/>
          <p:cNvSpPr/>
          <p:nvPr/>
        </p:nvSpPr>
        <p:spPr>
          <a:xfrm>
            <a:off x="320040" y="4873752"/>
            <a:ext cx="1463040" cy="164592"/>
          </a:xfrm>
          <a:prstGeom prst="rect">
            <a:avLst/>
          </a:prstGeom>
          <a:solidFill>
            <a:srgbClr val="EEEEEE">
              <a:alpha val="40000"/>
            </a:srgbClr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55" name="Text 53"/>
          <p:cNvSpPr/>
          <p:nvPr/>
        </p:nvSpPr>
        <p:spPr>
          <a:xfrm>
            <a:off x="320040" y="487375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D1B0E"/>
                </a:solidFill>
              </a:rPr>
              <a:t>#FAF7F2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1920240" y="458114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2D1B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Crème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1920240" y="481888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7F78"/>
                </a:solidFill>
              </a:rPr>
              <a:t>RVB : 250, 247, 242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4114800" y="4636008"/>
            <a:ext cx="4709160" cy="329184"/>
          </a:xfrm>
          <a:prstGeom prst="rect">
            <a:avLst/>
          </a:prstGeom>
          <a:solidFill>
            <a:srgbClr val="FAF7F2"/>
          </a:solidFill>
          <a:ln w="3810">
            <a:solidFill>
              <a:srgbClr val="E8E0D5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59" name="Shape 57"/>
          <p:cNvSpPr/>
          <p:nvPr/>
        </p:nvSpPr>
        <p:spPr>
          <a:xfrm>
            <a:off x="4114800" y="4636008"/>
            <a:ext cx="54864" cy="329184"/>
          </a:xfrm>
          <a:prstGeom prst="rect">
            <a:avLst/>
          </a:prstGeom>
          <a:solidFill>
            <a:srgbClr val="FAF7F2"/>
          </a:solidFill>
          <a:ln w="12700">
            <a:solidFill>
              <a:srgbClr val="FAF7F2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60" name="Text 58"/>
          <p:cNvSpPr/>
          <p:nvPr/>
        </p:nvSpPr>
        <p:spPr>
          <a:xfrm>
            <a:off x="4251960" y="4636008"/>
            <a:ext cx="4526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1C1C"/>
                </a:solidFill>
              </a:rPr>
              <a:t>Usage : Fond principal, cards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D1B0E"/>
          </a:solidFill>
          <a:ln w="12700">
            <a:solidFill>
              <a:srgbClr val="2D1B0E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  /  CHARTE GRAPHIQUE  —  6.3 Typographies  ·  6.4 Composants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109728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45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6.3  TYPOGRAPHIES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536192"/>
            <a:ext cx="4114800" cy="594360"/>
          </a:xfrm>
          <a:prstGeom prst="rect">
            <a:avLst/>
          </a:prstGeom>
          <a:solidFill>
            <a:srgbClr val="FFFFFF"/>
          </a:solidFill>
          <a:ln w="3810">
            <a:solidFill>
              <a:srgbClr val="E8E0D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6" name="Text 4"/>
          <p:cNvSpPr/>
          <p:nvPr/>
        </p:nvSpPr>
        <p:spPr>
          <a:xfrm>
            <a:off x="365760" y="156362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1B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librairie culinaire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856232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7F78"/>
                </a:solidFill>
              </a:rPr>
              <a:t>Titres display · Playfair Display · 28–42 pt · 900 Black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74320" y="2194560"/>
            <a:ext cx="4114800" cy="594360"/>
          </a:xfrm>
          <a:prstGeom prst="rect">
            <a:avLst/>
          </a:prstGeom>
          <a:solidFill>
            <a:srgbClr val="FFFFFF"/>
          </a:solidFill>
          <a:ln w="3810">
            <a:solidFill>
              <a:srgbClr val="E8E0D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9" name="Text 7"/>
          <p:cNvSpPr/>
          <p:nvPr/>
        </p:nvSpPr>
        <p:spPr>
          <a:xfrm>
            <a:off x="365760" y="222199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1B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Nos ouvrages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251460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7F78"/>
                </a:solidFill>
              </a:rPr>
              <a:t>Titres section · Playfair Display · 18–24 pt · 700 Bold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274320" y="2852928"/>
            <a:ext cx="4114800" cy="594360"/>
          </a:xfrm>
          <a:prstGeom prst="rect">
            <a:avLst/>
          </a:prstGeom>
          <a:solidFill>
            <a:srgbClr val="FFFFFF"/>
          </a:solidFill>
          <a:ln w="3810">
            <a:solidFill>
              <a:srgbClr val="E8E0D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12" name="Text 10"/>
          <p:cNvSpPr/>
          <p:nvPr/>
        </p:nvSpPr>
        <p:spPr>
          <a:xfrm>
            <a:off x="365760" y="28803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Découvrez nos livres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" y="3172968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7F78"/>
                </a:solidFill>
              </a:rPr>
              <a:t>Corps de texte · DM Sans · 14–16 pt · 400 Regular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274320" y="3511296"/>
            <a:ext cx="4114800" cy="594360"/>
          </a:xfrm>
          <a:prstGeom prst="rect">
            <a:avLst/>
          </a:prstGeom>
          <a:solidFill>
            <a:srgbClr val="FFFFFF"/>
          </a:solidFill>
          <a:ln w="3810">
            <a:solidFill>
              <a:srgbClr val="E8E0D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15" name="Text 13"/>
          <p:cNvSpPr/>
          <p:nvPr/>
        </p:nvSpPr>
        <p:spPr>
          <a:xfrm>
            <a:off x="365760" y="353872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Accueil · Catalogue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" y="3831336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7F78"/>
                </a:solidFill>
              </a:rPr>
              <a:t>Navigation · DM Sans · 15 pt · 500 Medium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74320" y="4169664"/>
            <a:ext cx="4114800" cy="594360"/>
          </a:xfrm>
          <a:prstGeom prst="rect">
            <a:avLst/>
          </a:prstGeom>
          <a:solidFill>
            <a:srgbClr val="FFFFFF"/>
          </a:solidFill>
          <a:ln w="3810">
            <a:solidFill>
              <a:srgbClr val="E8E0D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18" name="Text 16"/>
          <p:cNvSpPr/>
          <p:nvPr/>
        </p:nvSpPr>
        <p:spPr>
          <a:xfrm>
            <a:off x="365760" y="419709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A7F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 STOCK · ÉPUISÉ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5760" y="4489704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7F78"/>
                </a:solidFill>
              </a:rPr>
              <a:t>Labels &amp; badges · DM Sans · 10–12 pt · 700–800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663440" y="109728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45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6.4  COMPOSANTS UI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663440" y="153619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1B0E"/>
                </a:solidFill>
              </a:rPr>
              <a:t>Boutons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63440" y="1828800"/>
            <a:ext cx="1920240" cy="438912"/>
          </a:xfrm>
          <a:prstGeom prst="rect">
            <a:avLst/>
          </a:prstGeom>
          <a:solidFill>
            <a:srgbClr val="C4593A"/>
          </a:solidFill>
          <a:ln w="12700">
            <a:solidFill>
              <a:srgbClr val="C4593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23" name="Text 21"/>
          <p:cNvSpPr/>
          <p:nvPr/>
        </p:nvSpPr>
        <p:spPr>
          <a:xfrm>
            <a:off x="4663440" y="1828800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Ajouter au panier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663440" y="2304288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8A7F78"/>
                </a:solidFill>
              </a:rPr>
              <a:t>Primaire · #C4593A · border-radius: 50px</a:t>
            </a:r>
            <a:endParaRPr lang="en-US" sz="650" dirty="0"/>
          </a:p>
        </p:txBody>
      </p:sp>
      <p:sp>
        <p:nvSpPr>
          <p:cNvPr id="25" name="Shape 23"/>
          <p:cNvSpPr/>
          <p:nvPr/>
        </p:nvSpPr>
        <p:spPr>
          <a:xfrm>
            <a:off x="4663440" y="2542032"/>
            <a:ext cx="1920240" cy="43891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26" name="Text 24"/>
          <p:cNvSpPr/>
          <p:nvPr/>
        </p:nvSpPr>
        <p:spPr>
          <a:xfrm>
            <a:off x="4663440" y="2542032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D1B0E"/>
                </a:solidFill>
              </a:rPr>
              <a:t>Passer la commande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663440" y="3017520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8A7F78"/>
                </a:solidFill>
              </a:rPr>
              <a:t>Secondaire · #E8A838 · texte espresso</a:t>
            </a:r>
            <a:endParaRPr lang="en-US" sz="650" dirty="0"/>
          </a:p>
        </p:txBody>
      </p:sp>
      <p:sp>
        <p:nvSpPr>
          <p:cNvPr id="28" name="Shape 26"/>
          <p:cNvSpPr/>
          <p:nvPr/>
        </p:nvSpPr>
        <p:spPr>
          <a:xfrm>
            <a:off x="4663440" y="3255264"/>
            <a:ext cx="1920240" cy="438912"/>
          </a:xfrm>
          <a:prstGeom prst="rect">
            <a:avLst/>
          </a:prstGeom>
          <a:solidFill>
            <a:srgbClr val="FFFFFF"/>
          </a:solidFill>
          <a:ln w="19050">
            <a:solidFill>
              <a:srgbClr val="C4593A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29" name="Text 27"/>
          <p:cNvSpPr/>
          <p:nvPr/>
        </p:nvSpPr>
        <p:spPr>
          <a:xfrm>
            <a:off x="4663440" y="3255264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4593A"/>
                </a:solidFill>
              </a:rPr>
              <a:t>Voir le catalogue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663440" y="3730752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8A7F78"/>
                </a:solidFill>
              </a:rPr>
              <a:t>Outline · fond blanc · bordure terracotta</a:t>
            </a:r>
            <a:endParaRPr lang="en-US" sz="650" dirty="0"/>
          </a:p>
        </p:txBody>
      </p:sp>
      <p:sp>
        <p:nvSpPr>
          <p:cNvPr id="31" name="Text 29"/>
          <p:cNvSpPr/>
          <p:nvPr/>
        </p:nvSpPr>
        <p:spPr>
          <a:xfrm>
            <a:off x="6812280" y="153619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1B0E"/>
                </a:solidFill>
              </a:rPr>
              <a:t>Badges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812280" y="1874520"/>
            <a:ext cx="1005840" cy="347472"/>
          </a:xfrm>
          <a:prstGeom prst="rect">
            <a:avLst/>
          </a:prstGeom>
          <a:solidFill>
            <a:srgbClr val="D4EDDA"/>
          </a:solidFill>
          <a:ln w="12700">
            <a:solidFill>
              <a:srgbClr val="D4EDDA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33" name="Text 31"/>
          <p:cNvSpPr/>
          <p:nvPr/>
        </p:nvSpPr>
        <p:spPr>
          <a:xfrm>
            <a:off x="6812280" y="187452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5C2E"/>
                </a:solidFill>
              </a:rPr>
              <a:t>En stock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7909560" y="1874520"/>
            <a:ext cx="1005840" cy="347472"/>
          </a:xfrm>
          <a:prstGeom prst="rect">
            <a:avLst/>
          </a:prstGeom>
          <a:solidFill>
            <a:srgbClr val="F8D7DA"/>
          </a:solidFill>
          <a:ln w="12700">
            <a:solidFill>
              <a:srgbClr val="F8D7DA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35" name="Text 33"/>
          <p:cNvSpPr/>
          <p:nvPr/>
        </p:nvSpPr>
        <p:spPr>
          <a:xfrm>
            <a:off x="7909560" y="187452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7A1C20"/>
                </a:solidFill>
              </a:rPr>
              <a:t>Épuisé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812280" y="2331720"/>
            <a:ext cx="1005840" cy="347472"/>
          </a:xfrm>
          <a:prstGeom prst="rect">
            <a:avLst/>
          </a:prstGeom>
          <a:solidFill>
            <a:srgbClr val="FEF3CD"/>
          </a:solidFill>
          <a:ln w="12700">
            <a:solidFill>
              <a:srgbClr val="FEF3CD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37" name="Text 35"/>
          <p:cNvSpPr/>
          <p:nvPr/>
        </p:nvSpPr>
        <p:spPr>
          <a:xfrm>
            <a:off x="6812280" y="233172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92660A"/>
                </a:solidFill>
              </a:rPr>
              <a:t>En attente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7909560" y="2331720"/>
            <a:ext cx="1005840" cy="347472"/>
          </a:xfrm>
          <a:prstGeom prst="rect">
            <a:avLst/>
          </a:prstGeom>
          <a:solidFill>
            <a:srgbClr val="D4E8F5"/>
          </a:solidFill>
          <a:ln w="12700">
            <a:solidFill>
              <a:srgbClr val="D4E8F5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39" name="Text 37"/>
          <p:cNvSpPr/>
          <p:nvPr/>
        </p:nvSpPr>
        <p:spPr>
          <a:xfrm>
            <a:off x="7909560" y="233172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4A6C"/>
                </a:solidFill>
              </a:rPr>
              <a:t>Livrée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812280" y="283464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D1B0E"/>
                </a:solidFill>
              </a:rPr>
              <a:t>Icônes : Bootstrap Icons v1.11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812280" y="3127248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🛒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7543800" y="3127248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📚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8275320" y="3127248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❤️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6812280" y="3584448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7543800" y="3584448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⭐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8275320" y="3584448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📦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D1B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3657600"/>
          </a:xfrm>
          <a:prstGeom prst="ellipse">
            <a:avLst/>
          </a:prstGeom>
          <a:solidFill>
            <a:srgbClr val="C4593A">
              <a:alpha val="20000"/>
            </a:srgbClr>
          </a:solidFill>
          <a:ln w="12700">
            <a:solidFill>
              <a:srgbClr val="C4593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3" name="Shape 1"/>
          <p:cNvSpPr/>
          <p:nvPr/>
        </p:nvSpPr>
        <p:spPr>
          <a:xfrm>
            <a:off x="5764959" y="1671354"/>
            <a:ext cx="3200400" cy="3200400"/>
          </a:xfrm>
          <a:prstGeom prst="ellipse">
            <a:avLst/>
          </a:prstGeom>
          <a:solidFill>
            <a:srgbClr val="E8A838">
              <a:alpha val="15000"/>
            </a:srgbClr>
          </a:solidFill>
          <a:ln w="12700">
            <a:solidFill>
              <a:srgbClr val="E8A83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Merci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LivresGourmands.net — Dossier de Conception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286000" y="2834640"/>
            <a:ext cx="4572000" cy="0"/>
          </a:xfrm>
          <a:prstGeom prst="line">
            <a:avLst/>
          </a:prstGeom>
          <a:noFill/>
          <a:ln w="19050">
            <a:solidFill>
              <a:srgbClr val="C4593A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 ·  Vite  ·  Bootstrap 5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42900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 ·  Express  ·  MySQL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  ·  Context API  ·  Axios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425196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 Grasset, Montréal  ·  420-WA6-AG  ·  2025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1080</Words>
  <Application>Microsoft Office PowerPoint</Application>
  <PresentationFormat>Affichage à l'écran (16:9)</PresentationFormat>
  <Paragraphs>253</Paragraphs>
  <Slides>14</Slides>
  <Notes>14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8" baseType="lpstr">
      <vt:lpstr>Arial</vt:lpstr>
      <vt:lpstr>Calibri</vt:lpstr>
      <vt:lpstr>Georgia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Dossier de Conception — LivresGourmands</dc:title>
  <dc:subject>PptxGenJS Presentation</dc:subject>
  <dc:creator>Étudiant — Institut Grasset</dc:creator>
  <cp:lastModifiedBy>Mohamed Nouaoury</cp:lastModifiedBy>
  <cp:revision>6</cp:revision>
  <dcterms:created xsi:type="dcterms:W3CDTF">2026-05-15T15:23:35Z</dcterms:created>
  <dcterms:modified xsi:type="dcterms:W3CDTF">2026-05-20T04:40:26Z</dcterms:modified>
</cp:coreProperties>
</file>